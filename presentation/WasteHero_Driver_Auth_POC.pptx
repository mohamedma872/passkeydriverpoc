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62"/>
    <p:restoredTop sz="94712"/>
  </p:normalViewPr>
  <p:slideViewPr>
    <p:cSldViewPr snapToGrid="0" snapToObjects="1">
      <p:cViewPr varScale="1">
        <p:scale>
          <a:sx n="103" d="100"/>
          <a:sy n="103" d="100"/>
        </p:scale>
        <p:origin x="200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1FDF6-1C51-67DB-7BDF-1DBE7E448E0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687175" y="66421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E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709" y="149687"/>
            <a:ext cx="1632262" cy="12733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1508760"/>
            <a:ext cx="11365992" cy="18288"/>
          </a:xfrm>
          <a:prstGeom prst="rect">
            <a:avLst/>
          </a:prstGeom>
          <a:solidFill>
            <a:srgbClr val="25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Calibri"/>
              </a:rP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83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Mohamed Elsdody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059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00C9D7"/>
                </a:solidFill>
                <a:latin typeface="Calibri"/>
              </a:rPr>
              <a:t>Mobile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001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>
                <a:solidFill>
                  <a:srgbClr val="8A96AA"/>
                </a:solidFill>
                <a:latin typeface="Calibri"/>
              </a:rPr>
              <a:t>March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8577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96AA"/>
                </a:solidFill>
                <a:latin typeface="Calibri"/>
              </a:rP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713232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Driver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7132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C9D7"/>
                </a:solidFill>
                <a:latin typeface="Calibri"/>
              </a:rPr>
              <a:t>POC Results &amp; Architecture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82112"/>
            <a:ext cx="11365992" cy="18288"/>
          </a:xfrm>
          <a:prstGeom prst="rect">
            <a:avLst/>
          </a:prstGeom>
          <a:solidFill>
            <a:srgbClr val="25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310128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8A96AA"/>
                </a:solidFill>
                <a:latin typeface="Calibri"/>
              </a:rPr>
              <a:t>Two solutions evaluated against WebAuthn passkeys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94176"/>
            <a:ext cx="7132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8A96AA"/>
                </a:solidFill>
                <a:latin typeface="Calibri"/>
              </a:rPr>
              <a:t>Recommendation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868680" cy="502920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F1624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097280"/>
            <a:ext cx="10360152" cy="50292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9D4E8"/>
                </a:solidFill>
                <a:latin typeface="Calibri"/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868680" cy="502920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755648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F1624"/>
                </a:solidFill>
                <a:latin typeface="Calibr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755648"/>
            <a:ext cx="10360152" cy="50292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200" y="1837943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9D4E8"/>
                </a:solidFill>
                <a:latin typeface="Calibri"/>
              </a:rPr>
              <a:t>Why Passkey (WebAuthn) Was Rejected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414015"/>
            <a:ext cx="868680" cy="502920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414015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F1624"/>
                </a:solidFill>
                <a:latin typeface="Calibr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414015"/>
            <a:ext cx="10360152" cy="50292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2496311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9D4E8"/>
                </a:solidFill>
                <a:latin typeface="Calibri"/>
              </a:rPr>
              <a:t>Solution A  —  NFC Card + PIN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72384"/>
            <a:ext cx="868680" cy="502920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072384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F1624"/>
                </a:solidFill>
                <a:latin typeface="Calibr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3072384"/>
            <a:ext cx="10360152" cy="50292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00200" y="315468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9D4E8"/>
                </a:solidFill>
                <a:latin typeface="Calibri"/>
              </a:rPr>
              <a:t>Solution B  —  PIN + Face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30752"/>
            <a:ext cx="868680" cy="502920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730752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F1624"/>
                </a:solidFill>
                <a:latin typeface="Calibr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3730752"/>
            <a:ext cx="10360152" cy="50292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00200" y="3813048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9D4E8"/>
                </a:solidFill>
                <a:latin typeface="Calibri"/>
              </a:rPr>
              <a:t>Head-to-Head Comparison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389120"/>
            <a:ext cx="868680" cy="502920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3891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F1624"/>
                </a:solidFill>
                <a:latin typeface="Calibri"/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4389120"/>
            <a:ext cx="10360152" cy="50292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447141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9D4E8"/>
                </a:solidFill>
                <a:latin typeface="Calibri"/>
              </a:rPr>
              <a:t>Recommendation &amp; 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8A96AA"/>
                </a:solidFill>
                <a:latin typeface="Calibri"/>
              </a:rPr>
              <a:t>What drove this proof of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2618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457200" cy="12618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1188720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Shared Tablets Across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1609344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Multiple drivers share the same tablets across shifts and depots.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1938528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Any enrolled driver must log in on any tablet — no device-specific credentials.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60320"/>
            <a:ext cx="11365992" cy="12618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560320"/>
            <a:ext cx="457200" cy="12618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035808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2651760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Field Workers Need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072384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Drivers work in the field, often with gloves or in adverse conditions.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401568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Authentication must complete in under 10 seconds. Passwords are impractical.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23360"/>
            <a:ext cx="11365992" cy="12618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023360"/>
            <a:ext cx="457200" cy="12618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498848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4114800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Identity Verification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4535424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A PIN alone is not enough — buddy-punching must be prevented.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864608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The system must confirm the person entering the PIN is the registered driver.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Why Not Passkey (WebAuthn)?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8A96AA"/>
                </a:solidFill>
                <a:latin typeface="Calibri"/>
              </a:rPr>
              <a:t>Evaluated and ruled out early in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475488"/>
          </a:xfrm>
          <a:prstGeom prst="rect">
            <a:avLst/>
          </a:prstGeom>
          <a:solidFill>
            <a:srgbClr val="2A1010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61288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Calibri"/>
              </a:rPr>
              <a:t>WebAuthn / FIDO2 Passkeys do not fit the fleet authentication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19072"/>
            <a:ext cx="11365992" cy="10972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457200" cy="1097280"/>
          </a:xfrm>
          <a:prstGeom prst="rect">
            <a:avLst/>
          </a:prstGeom>
          <a:solidFill>
            <a:srgbClr val="8A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112263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1810512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Hardware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231136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Requires a FIDO2-certified platform authenticator (fingerprint chip / secure enclave).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560320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Fleet ruggedised Android tablets may not carry FIDO2-compliant hardware.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926080"/>
            <a:ext cx="11365992" cy="10972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926080"/>
            <a:ext cx="457200" cy="1097280"/>
          </a:xfrm>
          <a:prstGeom prst="rect">
            <a:avLst/>
          </a:prstGeom>
          <a:solidFill>
            <a:srgbClr val="8A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319272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017520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Device-Bound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3438144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Passkeys are cryptographically tied to the device they were created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3767328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Driver registered on Tablet A cannot authenticate on Tablet B — breaks fleet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133088"/>
            <a:ext cx="11365992" cy="10972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4133088"/>
            <a:ext cx="457200" cy="1097280"/>
          </a:xfrm>
          <a:prstGeom prst="rect">
            <a:avLst/>
          </a:prstGeom>
          <a:solidFill>
            <a:srgbClr val="8A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224528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Fleet Management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4645152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Designed for consumer web login: one user, one device, one site.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4974336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No admin enrollment, no driver revocation, no fleet-wide credential distribution.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40096"/>
            <a:ext cx="11365992" cy="10972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5340096"/>
            <a:ext cx="457200" cy="1097280"/>
          </a:xfrm>
          <a:prstGeom prst="rect">
            <a:avLst/>
          </a:prstGeom>
          <a:solidFill>
            <a:srgbClr val="8A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733288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5431536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Wrong Problem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" y="5852160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WebAuthn solves phishing-resistant browser login for individual users.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" y="6181344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Fleet driver identity verification is a different problem requiring a different tool.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Solution A — NFC Card +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8A96AA"/>
                </a:solidFill>
                <a:latin typeface="Calibri"/>
              </a:rPr>
              <a:t>Branch: feature/nfc-auth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2194560" cy="347472"/>
          </a:xfrm>
          <a:prstGeom prst="rect">
            <a:avLst/>
          </a:prstGeom>
          <a:solidFill>
            <a:srgbClr val="103838"/>
          </a:solidFill>
          <a:ln w="10160">
            <a:solidFill>
              <a:srgbClr val="00C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0C9D7"/>
                </a:solidFill>
                <a:latin typeface="Calibri"/>
              </a:rPr>
              <a:t>IMPLEMENTED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72768"/>
            <a:ext cx="2578608" cy="26974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2578608" cy="43891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25786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F1624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03120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Admin Issues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560320"/>
            <a:ext cx="2359152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6AA"/>
                </a:solidFill>
                <a:latin typeface="Calibri"/>
              </a:rPr>
              <a:t>Admin writes driver ID to NFC card via AdminScreen (NDEF text record).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523744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A96AA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572768"/>
            <a:ext cx="2578608" cy="26974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572768"/>
            <a:ext cx="2578608" cy="43891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572768"/>
            <a:ext cx="25786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F1624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03120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Driver Taps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560320"/>
            <a:ext cx="2359152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6AA"/>
                </a:solidFill>
                <a:latin typeface="Calibri"/>
              </a:rPr>
              <a:t>Driver holds NFC card near tablet. App reads driver ID from NDEF record.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2523744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A96AA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572768"/>
            <a:ext cx="2578608" cy="26974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572768"/>
            <a:ext cx="2578608" cy="43891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572768"/>
            <a:ext cx="25786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F1624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103120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PIN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560320"/>
            <a:ext cx="2359152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6AA"/>
                </a:solidFill>
                <a:latin typeface="Calibri"/>
              </a:rPr>
              <a:t>Driver enters PIN. App posts SHA-256 hash to cloud API for verification.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2523744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A96AA"/>
                </a:solidFill>
                <a:latin typeface="Calibr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19" y="1572768"/>
            <a:ext cx="2578608" cy="269748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89719" y="1572768"/>
            <a:ext cx="2578608" cy="43891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19" y="1572768"/>
            <a:ext cx="25786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F1624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7" y="2103120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Access Granted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7" y="2560320"/>
            <a:ext cx="2359152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6AA"/>
                </a:solidFill>
                <a:latin typeface="Calibri"/>
              </a:rPr>
              <a:t>On match, driver is routed to Dashboard. Session timestamp is logged.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462272"/>
            <a:ext cx="11365992" cy="420624"/>
          </a:xfrm>
          <a:prstGeom prst="rect">
            <a:avLst/>
          </a:prstGeom>
          <a:solidFill>
            <a:srgbClr val="0A111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51713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Calibri"/>
              </a:rPr>
              <a:t>Tech:  Android NFC API   |   NDEF Text Records   |   Neon PostgreSQL   |   Vercel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Solution A — Strengths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5394960" cy="420624"/>
          </a:xfrm>
          <a:prstGeom prst="rect">
            <a:avLst/>
          </a:prstGeom>
          <a:solidFill>
            <a:srgbClr val="0D281A"/>
          </a:solidFill>
          <a:ln w="1016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5394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48BB78"/>
                </a:solidFill>
                <a:latin typeface="Calibri"/>
              </a:rPr>
              <a:t>STRENGTHS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27632"/>
            <a:ext cx="5394960" cy="38404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+ Fast UX — card tap takes under 1 second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48256"/>
            <a:ext cx="5394960" cy="38404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084832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+ Physical 2nd factor (something you have + something you know)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68880"/>
            <a:ext cx="5394960" cy="38404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505456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+ Familiar to drivers — similar to existing access-card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89504"/>
            <a:ext cx="5394960" cy="38404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26080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+ Low implementation complexity — simple NDEF + REST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10128"/>
            <a:ext cx="5394960" cy="38404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346704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+ No biometric hardware required on the tablet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1078992"/>
            <a:ext cx="5394960" cy="420624"/>
          </a:xfrm>
          <a:prstGeom prst="rect">
            <a:avLst/>
          </a:prstGeom>
          <a:solidFill>
            <a:srgbClr val="2A1010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078992"/>
            <a:ext cx="5394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6B6B"/>
                </a:solidFill>
                <a:latin typeface="Calibri"/>
              </a:rPr>
              <a:t>LIMITATIONS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1627632"/>
            <a:ext cx="5394960" cy="384048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66420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- Card can be lost, stolen, or cloned — no crypto binding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2048256"/>
            <a:ext cx="5394960" cy="384048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084832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- PIN stored as plain text in DB (POC only — must be fixed)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2468880"/>
            <a:ext cx="5394960" cy="384048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505456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- Requires card printing, distribution and re-issuance 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889504"/>
            <a:ext cx="5394960" cy="384048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926080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- No liveness check — anyone with the card can attempt PIN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3310128"/>
            <a:ext cx="5394960" cy="384048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346704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- No card revocation mechanism in current implementation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Solution B — PIN + Face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8A96AA"/>
                </a:solidFill>
                <a:latin typeface="Calibri"/>
              </a:rPr>
              <a:t>Branch: feature/facenet-auth   |   Recommended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2560320" cy="347472"/>
          </a:xfrm>
          <a:prstGeom prst="rect">
            <a:avLst/>
          </a:prstGeom>
          <a:solidFill>
            <a:srgbClr val="0D281A"/>
          </a:solidFill>
          <a:ln w="1016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48BB78"/>
                </a:solidFill>
                <a:latin typeface="Calibri"/>
              </a:rPr>
              <a:t>RECOMMENDED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72768"/>
            <a:ext cx="11365992" cy="786384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438912" cy="786384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728216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F1624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645920"/>
            <a:ext cx="3474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PIN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7040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Calibri"/>
              </a:rPr>
              <a:t>Driver enters 6-digit PIN.  SHA-256 + pepper hash is sent to cloud.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59151"/>
            <a:ext cx="11365992" cy="18288"/>
          </a:xfrm>
          <a:prstGeom prst="rect">
            <a:avLst/>
          </a:prstGeom>
          <a:solidFill>
            <a:srgbClr val="25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450591"/>
            <a:ext cx="11365992" cy="786384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450591"/>
            <a:ext cx="438912" cy="786384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606039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F1624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523744"/>
            <a:ext cx="3474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Cloud Driver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23744"/>
            <a:ext cx="7040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Calibri"/>
              </a:rPr>
              <a:t>POST /api/fleet/verify { pinHash }  →  returns driverId + name, or 404.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36975"/>
            <a:ext cx="11365992" cy="18288"/>
          </a:xfrm>
          <a:prstGeom prst="rect">
            <a:avLst/>
          </a:prstGeom>
          <a:solidFill>
            <a:srgbClr val="25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3328415"/>
            <a:ext cx="11365992" cy="786384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328415"/>
            <a:ext cx="438912" cy="786384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483863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F1624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401568"/>
            <a:ext cx="3474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Face Capture (On-Device)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01568"/>
            <a:ext cx="7040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Calibri"/>
              </a:rPr>
              <a:t>FaceNet TFLite runs locally.  Blink liveness check.  512-float embedding produced.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14800"/>
            <a:ext cx="11365992" cy="18288"/>
          </a:xfrm>
          <a:prstGeom prst="rect">
            <a:avLst/>
          </a:prstGeom>
          <a:solidFill>
            <a:srgbClr val="25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4206240"/>
            <a:ext cx="11365992" cy="786384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4206240"/>
            <a:ext cx="438912" cy="786384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436168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F1624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279392"/>
            <a:ext cx="3474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Cloud Face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79392"/>
            <a:ext cx="7040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Calibri"/>
              </a:rPr>
              <a:t>POST /api/fleet/verify { pinHash, embedding }  →  server decrypts stored vectors + cosine similarity.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92624"/>
            <a:ext cx="11365992" cy="18288"/>
          </a:xfrm>
          <a:prstGeom prst="rect">
            <a:avLst/>
          </a:prstGeom>
          <a:solidFill>
            <a:srgbClr val="25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5084064"/>
            <a:ext cx="11365992" cy="786384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480" y="5084064"/>
            <a:ext cx="438912" cy="786384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5239512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F1624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157216"/>
            <a:ext cx="3474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Access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57216"/>
            <a:ext cx="7040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Calibri"/>
              </a:rPr>
              <a:t>Score &gt;= 0.75  →  Dashboard.   Fail  →  lockout counter incremented (5 fails = 60 min lock).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solidFill>
            <a:srgbClr val="0A111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080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6AA"/>
                </a:solidFill>
                <a:latin typeface="Calibri"/>
              </a:rPr>
              <a:t>Tech:  TFLite FaceNet   |   ML Kit   |   AES-256-GCM   |   OkHttp3   |   Neon PostgreSQL   |   Vercel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How Face Detection &amp; Verification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8A96AA"/>
                </a:solidFill>
                <a:latin typeface="Calibri"/>
              </a:rPr>
              <a:t>On-device ML pipeline — no face images leave the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65836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438912" cy="65836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52728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704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Camera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170432"/>
            <a:ext cx="7863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Calibri"/>
              </a:rPr>
              <a:t>CameraX streams live frames to the ML pipeline continuously.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10512"/>
            <a:ext cx="11365992" cy="65836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810512"/>
            <a:ext cx="438912" cy="65836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965960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83664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ML Kit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883664"/>
            <a:ext cx="7863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Calibri"/>
              </a:rPr>
              <a:t>Face bounding box extracted. Eye open probability measured per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23744"/>
            <a:ext cx="11365992" cy="65836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523744"/>
            <a:ext cx="438912" cy="65836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679191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59689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Blink Liveness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96896"/>
            <a:ext cx="7863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Calibri"/>
              </a:rPr>
              <a:t>Eyes open  -&gt;  closed  -&gt;  open sequence required before accepting frame.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36976"/>
            <a:ext cx="11365992" cy="65836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3236976"/>
            <a:ext cx="438912" cy="65836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39242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1012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FaceNet TFLite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310128"/>
            <a:ext cx="7863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Calibri"/>
              </a:rPr>
              <a:t>Face region cropped, resized to 160x160 px. Model produces 512-float vector.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50208"/>
            <a:ext cx="11365992" cy="658368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3950208"/>
            <a:ext cx="438912" cy="65836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4105656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0233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L2 Normalise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023360"/>
            <a:ext cx="7863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A96AA"/>
                </a:solidFill>
                <a:latin typeface="Calibri"/>
              </a:rPr>
              <a:t>Vector magnitude scaled to 1.0 — makes cosine similarity equal to dot product.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28032"/>
            <a:ext cx="11365992" cy="1828800"/>
          </a:xfrm>
          <a:prstGeom prst="rect">
            <a:avLst/>
          </a:prstGeom>
          <a:solidFill>
            <a:srgbClr val="0A111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919472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9D7"/>
                </a:solidFill>
                <a:latin typeface="Calibri"/>
              </a:rPr>
              <a:t>Cloud Verification (Vercel / Neon PostgreSQL)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0352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1.  Lookup driver record by pinHash  -&gt;  fetch encrypted embeddings_enc from Neon.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614416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2.  Decrypt with FLEET_EMBED_KEY  (AES-256-GCM — stored only in Vercel environment variables).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2531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3.  Cosine similarity against each of the 5 enrollment captures:  score = dot(liveVec, storedVec).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23620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4.  Return best (max) score.  Threshold:  score &gt;= 0.75  =  MATCH   |   score &lt; 0.75  =  FAIL.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8A96AA"/>
                </a:solidFill>
                <a:latin typeface="Calibri"/>
              </a:rPr>
              <a:t>Solution B — PIN +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5413248" cy="169164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5413248" cy="402336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496" y="1152144"/>
            <a:ext cx="51572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1624"/>
                </a:solidFill>
                <a:latin typeface="Calibri"/>
              </a:rPr>
              <a:t>PIN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591056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SHA-256(pin + pepper) — PIN never stored in plain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920240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Pepper value never enters the database; hash is one-way.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249424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6-digit PIN: 1,000,000 possible values with lockout enforcement.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8504" y="1097280"/>
            <a:ext cx="5413248" cy="169164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18504" y="1097280"/>
            <a:ext cx="5413248" cy="402336"/>
          </a:xfrm>
          <a:prstGeom prst="rect">
            <a:avLst/>
          </a:prstGeom>
          <a:solidFill>
            <a:srgbClr val="8A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152144"/>
            <a:ext cx="51572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1624"/>
                </a:solidFill>
                <a:latin typeface="Calibri"/>
              </a:rPr>
              <a:t>Biometric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91056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Face images never leave the device — only math vectors (512 floats) transmitted.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Embeddings at rest encrypted with AES-256-GCM using Vercel env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49424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No raw biometric data is ever stored or transmitted.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44952"/>
            <a:ext cx="5413248" cy="169164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044952"/>
            <a:ext cx="5413248" cy="402336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" y="3099816"/>
            <a:ext cx="51572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1624"/>
                </a:solidFill>
                <a:latin typeface="Calibri"/>
              </a:rPr>
              <a:t>Brute-Force Defence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3538728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Tablet lockout:  5 wrong PINs  -&gt;  30-minute lock (SharedPreferences).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3867912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Driver lockout:  5 wrong face attempts  -&gt;  60-minute per-driver lock.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4197096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Both locks use timestamp-based expiry — no server round-trip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18504" y="3044952"/>
            <a:ext cx="5413248" cy="169164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18504" y="3044952"/>
            <a:ext cx="5413248" cy="402336"/>
          </a:xfrm>
          <a:prstGeom prst="rect">
            <a:avLst/>
          </a:prstGeom>
          <a:solidFill>
            <a:srgbClr val="8A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099816"/>
            <a:ext cx="51572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1624"/>
                </a:solidFill>
                <a:latin typeface="Calibri"/>
              </a:rPr>
              <a:t>Key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38728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FLEET_EMBED_KEY: 256-bit hex — stored only in Vercel environment variables.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67912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Never committed to source code or stored in the database.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97096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Key is rotatable without requiring drivers to re-enrol.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Head-to-Head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3246120" cy="457200"/>
          </a:xfrm>
          <a:prstGeom prst="rect">
            <a:avLst/>
          </a:prstGeom>
          <a:solidFill>
            <a:srgbClr val="1E2D40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9D4E8"/>
                </a:solidFill>
                <a:latin typeface="Calibri"/>
              </a:rPr>
              <a:t>Criterion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1078992"/>
            <a:ext cx="2578608" cy="457200"/>
          </a:xfrm>
          <a:prstGeom prst="rect">
            <a:avLst/>
          </a:prstGeom>
          <a:solidFill>
            <a:srgbClr val="00C9D7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4759" y="1170432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1624"/>
                </a:solidFill>
                <a:latin typeface="Calibri"/>
              </a:rPr>
              <a:t>Passkey (WebAuthn)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7648" y="1078992"/>
            <a:ext cx="2377440" cy="457200"/>
          </a:xfrm>
          <a:prstGeom prst="rect">
            <a:avLst/>
          </a:prstGeom>
          <a:solidFill>
            <a:srgbClr val="00C9D7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170432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1624"/>
                </a:solidFill>
                <a:latin typeface="Calibri"/>
              </a:rPr>
              <a:t>NFC + PIN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50808" y="1078992"/>
            <a:ext cx="2798064" cy="457200"/>
          </a:xfrm>
          <a:prstGeom prst="rect">
            <a:avLst/>
          </a:prstGeom>
          <a:solidFill>
            <a:srgbClr val="00C9D7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42248" y="1170432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1624"/>
                </a:solidFill>
                <a:latin typeface="Calibri"/>
              </a:rPr>
              <a:t>PIN + 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36192"/>
            <a:ext cx="324612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2763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Works on any tablet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536192"/>
            <a:ext cx="2578608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59" y="1627632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No — device-bound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536192"/>
            <a:ext cx="237744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627632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Yes — card-based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0808" y="1536192"/>
            <a:ext cx="2798064" cy="457200"/>
          </a:xfrm>
          <a:prstGeom prst="rect">
            <a:avLst/>
          </a:prstGeom>
          <a:solidFill>
            <a:srgbClr val="112836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42248" y="1627632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Yes — cloud lookup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993391"/>
            <a:ext cx="324612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084831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No special hardware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1993391"/>
            <a:ext cx="2578608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59" y="2084831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No — FIDO2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1993391"/>
            <a:ext cx="237744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084831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Yes — NFC reader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0808" y="1993391"/>
            <a:ext cx="2798064" cy="457200"/>
          </a:xfrm>
          <a:prstGeom prst="rect">
            <a:avLst/>
          </a:prstGeom>
          <a:solidFill>
            <a:srgbClr val="0E222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8" y="2084831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Yes — front camera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450591"/>
            <a:ext cx="324612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254203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Fleet enrollment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2450591"/>
            <a:ext cx="2578608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94759" y="2542032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No — not supported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2450591"/>
            <a:ext cx="237744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2542032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Yes — admin issues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50808" y="2450591"/>
            <a:ext cx="2798064" cy="457200"/>
          </a:xfrm>
          <a:prstGeom prst="rect">
            <a:avLst/>
          </a:prstGeom>
          <a:solidFill>
            <a:srgbClr val="112836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42248" y="2542032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Yes — self-register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907791"/>
            <a:ext cx="324612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299923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Two-factor auth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2907791"/>
            <a:ext cx="2578608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94759" y="2999232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Yes — platform + PIN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2907791"/>
            <a:ext cx="237744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19088" y="2999232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Yes — have + know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50808" y="2907791"/>
            <a:ext cx="2798064" cy="457200"/>
          </a:xfrm>
          <a:prstGeom prst="rect">
            <a:avLst/>
          </a:prstGeom>
          <a:solidFill>
            <a:srgbClr val="0E222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42248" y="2999232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Yes — know + 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364991"/>
            <a:ext cx="324612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345643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Liveness check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03320" y="3364991"/>
            <a:ext cx="2578608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94759" y="3456432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Platform-dependent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3364991"/>
            <a:ext cx="237744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19088" y="3456432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50808" y="3364991"/>
            <a:ext cx="2798064" cy="457200"/>
          </a:xfrm>
          <a:prstGeom prst="rect">
            <a:avLst/>
          </a:prstGeom>
          <a:solidFill>
            <a:srgbClr val="112836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42248" y="3456432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Yes — blink detect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822191"/>
            <a:ext cx="324612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3913631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Biometrics encrypted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03320" y="3822191"/>
            <a:ext cx="2578608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94759" y="3913631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N/A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3822191"/>
            <a:ext cx="237744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19088" y="3913631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N/A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50808" y="3822191"/>
            <a:ext cx="2798064" cy="457200"/>
          </a:xfrm>
          <a:prstGeom prst="rect">
            <a:avLst/>
          </a:prstGeom>
          <a:solidFill>
            <a:srgbClr val="0E222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42248" y="3913631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Yes — AES-256-GCM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279392"/>
            <a:ext cx="324612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4370831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Risk if compromised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03320" y="4279392"/>
            <a:ext cx="2578608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794759" y="4370831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Low — device-bound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7648" y="4279392"/>
            <a:ext cx="2377440" cy="457200"/>
          </a:xfrm>
          <a:prstGeom prst="rect">
            <a:avLst/>
          </a:prstGeom>
          <a:solidFill>
            <a:srgbClr val="121C2C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19088" y="4370831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High — card loss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50808" y="4279392"/>
            <a:ext cx="2798064" cy="457200"/>
          </a:xfrm>
          <a:prstGeom prst="rect">
            <a:avLst/>
          </a:prstGeom>
          <a:solidFill>
            <a:srgbClr val="112836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42248" y="4370831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Low — nothing to lose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736592"/>
            <a:ext cx="324612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4828031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Implementation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03320" y="4736592"/>
            <a:ext cx="2578608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794759" y="4828031"/>
            <a:ext cx="2441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High complexity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27648" y="4736592"/>
            <a:ext cx="2377440" cy="4572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19088" y="4828031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Low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50808" y="4736592"/>
            <a:ext cx="2798064" cy="457200"/>
          </a:xfrm>
          <a:prstGeom prst="rect">
            <a:avLst/>
          </a:prstGeom>
          <a:solidFill>
            <a:srgbClr val="0E222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842248" y="4828031"/>
            <a:ext cx="2660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C9D7"/>
                </a:solidFill>
                <a:latin typeface="Calibri"/>
              </a:rPr>
              <a:t>Medium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5992" cy="548640"/>
          </a:xfrm>
          <a:prstGeom prst="rect">
            <a:avLst/>
          </a:prstGeom>
          <a:solidFill>
            <a:srgbClr val="0D281A"/>
          </a:solidFill>
          <a:ln w="1016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48BB78"/>
                </a:solidFill>
                <a:latin typeface="Calibri"/>
              </a:rPr>
              <a:t>Proceed with Solution B:  PIN + Face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11365992" cy="8046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457200" cy="8046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029967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1874519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Hardware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295144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Only requires the front camera already on fleet tablets — no FIDO2 chips or NFC cards.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79192"/>
            <a:ext cx="11365992" cy="8046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679192"/>
            <a:ext cx="457200" cy="8046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2770632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True Two-Factor — Unforgeable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191256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PIN (something you know) + face (something you are) — cannot be shared or delegated.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75304"/>
            <a:ext cx="11365992" cy="8046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3575304"/>
            <a:ext cx="457200" cy="8046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822191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3666744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Fleet-Wide, Tablet-Agnostic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4087368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Embeddings in cloud (encrypted) — any tablet can verify any driver, no pairing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1365992" cy="8046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4471416"/>
            <a:ext cx="457200" cy="8046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718304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4562855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Production-Ready Security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4983480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AES-256-GCM embeddings, SHA-256 PIN hashing, dual lockout, blink liveness detection.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367527"/>
            <a:ext cx="11365992" cy="804672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367527"/>
            <a:ext cx="457200" cy="804672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614415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F1624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" y="5458967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NFC as Optional Enhancement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" y="5879592"/>
            <a:ext cx="10671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9D4E8"/>
                </a:solidFill>
                <a:latin typeface="Calibri"/>
              </a:rPr>
              <a:t>Solution A is fully built — can be added later as express re-auth shortcut for drivers.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C9D7"/>
                </a:solidFill>
                <a:latin typeface="Calibri"/>
              </a:rPr>
              <a:t>Next Steps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413248" cy="18288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5413248" cy="420624"/>
          </a:xfrm>
          <a:prstGeom prst="rect">
            <a:avLst/>
          </a:prstGeom>
          <a:solidFill>
            <a:srgbClr val="0A111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170432"/>
            <a:ext cx="44074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9D7"/>
                </a:solidFill>
                <a:latin typeface="Calibri"/>
              </a:rPr>
              <a:t>Phase 1 — Harden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1170432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1">
                <a:solidFill>
                  <a:srgbClr val="8A96AA"/>
                </a:solidFill>
                <a:latin typeface="Calibri"/>
              </a:rPr>
              <a:t>1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09344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Move PIN pepper from source code to Vercel environment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011680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Add per-driver salt to PIN hash schema in Neon PostgreSQL.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414016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Enable HTTPS certificate pinning inside FleetApiClient.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8504" y="1097280"/>
            <a:ext cx="5413248" cy="18288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18504" y="1097280"/>
            <a:ext cx="5413248" cy="420624"/>
          </a:xfrm>
          <a:prstGeom prst="rect">
            <a:avLst/>
          </a:prstGeom>
          <a:solidFill>
            <a:srgbClr val="0A111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170432"/>
            <a:ext cx="44074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9D7"/>
                </a:solidFill>
                <a:latin typeface="Calibri"/>
              </a:rPr>
              <a:t>Phase 2 —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1632" y="1170432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1">
                <a:solidFill>
                  <a:srgbClr val="8A96AA"/>
                </a:solidFill>
                <a:latin typeface="Calibri"/>
              </a:rPr>
              <a:t>2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09344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Pilot with 10 drivers across 3 tablets in a real depot.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Tune cosine similarity threshold (currently 0.75) using real driver dataset.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14016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Measure end-to-end auth time — target under 8 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00400"/>
            <a:ext cx="5413248" cy="18288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3200400"/>
            <a:ext cx="5413248" cy="420624"/>
          </a:xfrm>
          <a:prstGeom prst="rect">
            <a:avLst/>
          </a:prstGeom>
          <a:solidFill>
            <a:srgbClr val="0A111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6" y="3273552"/>
            <a:ext cx="44074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9D7"/>
                </a:solidFill>
                <a:latin typeface="Calibri"/>
              </a:rPr>
              <a:t>Phase 3 —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273552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1">
                <a:solidFill>
                  <a:srgbClr val="8A96AA"/>
                </a:solidFill>
                <a:latin typeface="Calibri"/>
              </a:rPr>
              <a:t>4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3712464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Driver self-enrollment onboarding session (5-capture face enrol + 6-digit PIN).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4114800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Admin dashboard for driver management and lockout override.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4517136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Phased rollout to full fleet — depot by depot.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8504" y="3200400"/>
            <a:ext cx="5413248" cy="1828800"/>
          </a:xfrm>
          <a:prstGeom prst="rect">
            <a:avLst/>
          </a:prstGeom>
          <a:solidFill>
            <a:srgbClr val="1A2535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18504" y="3200400"/>
            <a:ext cx="5413248" cy="420624"/>
          </a:xfrm>
          <a:prstGeom prst="rect">
            <a:avLst/>
          </a:prstGeom>
          <a:solidFill>
            <a:srgbClr val="0A111E"/>
          </a:solidFill>
          <a:ln w="10160">
            <a:solidFill>
              <a:srgbClr val="25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273552"/>
            <a:ext cx="44074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A96AA"/>
                </a:solidFill>
                <a:latin typeface="Calibri"/>
              </a:rPr>
              <a:t>Optional — NFC Fast 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1632" y="3273552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1">
                <a:solidFill>
                  <a:srgbClr val="8A96AA"/>
                </a:solidFill>
                <a:latin typeface="Calibri"/>
              </a:rPr>
              <a:t>Parallel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712464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Introduce NFC card as express re-auth shortcut for returning drivers.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114800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9D4E8"/>
                </a:solidFill>
                <a:latin typeface="Calibri"/>
              </a:rPr>
              <a:t>- Fix PIN hashing and add card revocation table in NFC branch first.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5836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8A96AA"/>
                </a:solidFill>
                <a:latin typeface="Calibri"/>
              </a:rPr>
              <a:t>WasteHero Fleet   |   Driver Authentication POC   | 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1480</Words>
  <Application>Microsoft Macintosh PowerPoint</Application>
  <PresentationFormat>Custom</PresentationFormat>
  <Paragraphs>231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Elsdody</cp:lastModifiedBy>
  <cp:revision>2</cp:revision>
  <dcterms:created xsi:type="dcterms:W3CDTF">2013-01-27T09:14:16Z</dcterms:created>
  <dcterms:modified xsi:type="dcterms:W3CDTF">2026-03-22T04:11:37Z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2b34ec-c11c-47b6-b54e-e857cc8ee12b_Enabled">
    <vt:lpwstr>true</vt:lpwstr>
  </property>
  <property fmtid="{D5CDD505-2E9C-101B-9397-08002B2CF9AE}" pid="3" name="MSIP_Label_742b34ec-c11c-47b6-b54e-e857cc8ee12b_SetDate">
    <vt:lpwstr>2026-03-22T04:10:17Z</vt:lpwstr>
  </property>
  <property fmtid="{D5CDD505-2E9C-101B-9397-08002B2CF9AE}" pid="4" name="MSIP_Label_742b34ec-c11c-47b6-b54e-e857cc8ee12b_Method">
    <vt:lpwstr>Privileged</vt:lpwstr>
  </property>
  <property fmtid="{D5CDD505-2E9C-101B-9397-08002B2CF9AE}" pid="5" name="MSIP_Label_742b34ec-c11c-47b6-b54e-e857cc8ee12b_Name">
    <vt:lpwstr>General-v3</vt:lpwstr>
  </property>
  <property fmtid="{D5CDD505-2E9C-101B-9397-08002B2CF9AE}" pid="6" name="MSIP_Label_742b34ec-c11c-47b6-b54e-e857cc8ee12b_SiteId">
    <vt:lpwstr>a1a5384f-f0fc-4df9-9f37-caf775af43c1</vt:lpwstr>
  </property>
  <property fmtid="{D5CDD505-2E9C-101B-9397-08002B2CF9AE}" pid="7" name="MSIP_Label_742b34ec-c11c-47b6-b54e-e857cc8ee12b_ActionId">
    <vt:lpwstr>1c596f53-b782-4824-ade4-8aacf646d425</vt:lpwstr>
  </property>
  <property fmtid="{D5CDD505-2E9C-101B-9397-08002B2CF9AE}" pid="8" name="MSIP_Label_742b34ec-c11c-47b6-b54e-e857cc8ee12b_ContentBits">
    <vt:lpwstr>2</vt:lpwstr>
  </property>
  <property fmtid="{D5CDD505-2E9C-101B-9397-08002B2CF9AE}" pid="9" name="MSIP_Label_742b34ec-c11c-47b6-b54e-e857cc8ee12b_Tag">
    <vt:lpwstr>50, 0, 1, 1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</vt:lpwstr>
  </property>
</Properties>
</file>